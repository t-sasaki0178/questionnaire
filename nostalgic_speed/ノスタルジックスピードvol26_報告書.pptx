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24"/>
  </p:notesMasterIdLst>
  <p:handoutMasterIdLst>
    <p:handoutMasterId r:id="rId25"/>
  </p:handoutMasterIdLst>
  <p:sldIdLst>
    <p:sldId id="261" r:id="rId2"/>
    <p:sldId id="262" r:id="rId3"/>
    <p:sldId id="263" r:id="rId4"/>
    <p:sldId id="265" r:id="rId5"/>
    <p:sldId id="266" r:id="rId6"/>
    <p:sldId id="267" r:id="rId7"/>
    <p:sldId id="271" r:id="rId8"/>
    <p:sldId id="290" r:id="rId9"/>
    <p:sldId id="273" r:id="rId10"/>
    <p:sldId id="274" r:id="rId11"/>
    <p:sldId id="275" r:id="rId12"/>
    <p:sldId id="276" r:id="rId13"/>
    <p:sldId id="277" r:id="rId14"/>
    <p:sldId id="291" r:id="rId15"/>
    <p:sldId id="292" r:id="rId16"/>
    <p:sldId id="279" r:id="rId17"/>
    <p:sldId id="281" r:id="rId18"/>
    <p:sldId id="283" r:id="rId19"/>
    <p:sldId id="285" r:id="rId20"/>
    <p:sldId id="294" r:id="rId21"/>
    <p:sldId id="287" r:id="rId22"/>
    <p:sldId id="289" r:id="rId23"/>
  </p:sldIdLst>
  <p:sldSz cx="7559675" cy="10691813"/>
  <p:notesSz cx="6858000" cy="9144000"/>
  <p:defaultTextStyle>
    <a:defPPr>
      <a:defRPr lang="ja-JP"/>
    </a:defPPr>
    <a:lvl1pPr marL="0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1pPr>
    <a:lvl2pPr marL="521468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2pPr>
    <a:lvl3pPr marL="1042938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3pPr>
    <a:lvl4pPr marL="1564406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4pPr>
    <a:lvl5pPr marL="2085874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5pPr>
    <a:lvl6pPr marL="2607342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6pPr>
    <a:lvl7pPr marL="3128812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7pPr>
    <a:lvl8pPr marL="3650280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8pPr>
    <a:lvl9pPr marL="4171748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" userDrawn="1">
          <p15:clr>
            <a:srgbClr val="A4A3A4"/>
          </p15:clr>
        </p15:guide>
        <p15:guide id="2" pos="149" userDrawn="1">
          <p15:clr>
            <a:srgbClr val="A4A3A4"/>
          </p15:clr>
        </p15:guide>
        <p15:guide id="3" pos="4613" userDrawn="1">
          <p15:clr>
            <a:srgbClr val="A4A3A4"/>
          </p15:clr>
        </p15:guide>
        <p15:guide id="4" orient="horz" pos="6578" userDrawn="1">
          <p15:clr>
            <a:srgbClr val="A4A3A4"/>
          </p15:clr>
        </p15:guide>
        <p15:guide id="5" orient="horz" pos="4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6208"/>
  </p:normalViewPr>
  <p:slideViewPr>
    <p:cSldViewPr snapToGrid="0" snapToObjects="1">
      <p:cViewPr varScale="1">
        <p:scale>
          <a:sx n="76" d="100"/>
          <a:sy n="76" d="100"/>
        </p:scale>
        <p:origin x="3056" y="216"/>
      </p:cViewPr>
      <p:guideLst>
        <p:guide orient="horz" pos="238"/>
        <p:guide pos="149"/>
        <p:guide pos="4613"/>
        <p:guide orient="horz" pos="6578"/>
        <p:guide orient="horz" pos="4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kumimoji="1" lang="ja-JP" altLang="de-DE"/>
              <a:t>株式会社芸文社　</a:t>
            </a:r>
            <a:r>
              <a:rPr kumimoji="1" lang="de-DE" altLang="ja-JP"/>
              <a:t>Nostalgic Hero VOL.169 2015-6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C396C-111D-DE4C-A3DD-74D4A1DD8368}" type="datetimeFigureOut">
              <a:rPr kumimoji="1" lang="ja-JP" altLang="en-US" smtClean="0"/>
              <a:t>2020/11/24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4577C-CBC4-D14D-8156-757AA14F9D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5460588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kumimoji="1" lang="ja-JP" altLang="de-DE"/>
              <a:t>株式会社芸文社　</a:t>
            </a:r>
            <a:r>
              <a:rPr kumimoji="1" lang="de-DE" altLang="ja-JP"/>
              <a:t>Nostalgic Hero VOL.169 2015-6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1B931-7B8C-D94C-9075-583121FDFE4A}" type="datetimeFigureOut">
              <a:rPr kumimoji="1" lang="ja-JP" altLang="en-US" smtClean="0"/>
              <a:t>2020/11/24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C4164-3683-6541-8E29-303F4B3096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35497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1pPr>
    <a:lvl2pPr marL="521468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2pPr>
    <a:lvl3pPr marL="1042938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3pPr>
    <a:lvl4pPr marL="1564406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4pPr>
    <a:lvl5pPr marL="2085874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5pPr>
    <a:lvl6pPr marL="2607342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6pPr>
    <a:lvl7pPr marL="3128812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7pPr>
    <a:lvl8pPr marL="3650280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8pPr>
    <a:lvl9pPr marL="4171748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C4164-3683-6541-8E29-303F4B309614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5" name="ヘッダー プレースホルダー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ja-JP" altLang="de-DE"/>
              <a:t>株式会社芸文社　</a:t>
            </a:r>
            <a:r>
              <a:rPr kumimoji="1" lang="de-DE" altLang="ja-JP"/>
              <a:t>Nostalgic Hero VOL.169 2015-6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4689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A35E5-B147-B34C-8F1A-A164BF88D6E7}" type="datetime1">
              <a:rPr kumimoji="1" lang="ja-JP" altLang="en-US" smtClean="0"/>
              <a:t>2020/11/24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6660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75379-FC1B-264D-BAD6-23C934943C04}" type="datetime1">
              <a:rPr kumimoji="1" lang="ja-JP" altLang="en-US" smtClean="0"/>
              <a:t>2020/11/24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5294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58C9-173E-5E49-B341-84D509C5FEBB}" type="datetime1">
              <a:rPr kumimoji="1" lang="ja-JP" altLang="en-US" smtClean="0"/>
              <a:t>2020/11/24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6801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C11A-9763-E547-8081-9669E40A2FF5}" type="datetime1">
              <a:rPr kumimoji="1" lang="ja-JP" altLang="en-US" smtClean="0"/>
              <a:t>2020/11/24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3172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CAF5-BFFE-4F4A-9D62-2D9812EC5FC2}" type="datetime1">
              <a:rPr kumimoji="1" lang="ja-JP" altLang="en-US" smtClean="0"/>
              <a:t>2020/11/24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918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50F4F-4AAB-5C47-8265-C839DBE2BD95}" type="datetime1">
              <a:rPr kumimoji="1" lang="ja-JP" altLang="en-US" smtClean="0"/>
              <a:t>2020/11/24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125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DFAEC-26E5-7349-98F8-3B3FAA7B9FDC}" type="datetime1">
              <a:rPr kumimoji="1" lang="ja-JP" altLang="en-US" smtClean="0"/>
              <a:t>2020/11/24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8219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64176-4D63-574B-BF18-5A5BB88936D4}" type="datetime1">
              <a:rPr kumimoji="1" lang="ja-JP" altLang="en-US" smtClean="0"/>
              <a:t>2020/11/24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1368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5F405-733D-134B-A1B7-C49CDB6529E2}" type="datetime1">
              <a:rPr kumimoji="1" lang="ja-JP" altLang="en-US" smtClean="0"/>
              <a:t>2020/11/24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4887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0951-8214-E149-9E56-751006F3B092}" type="datetime1">
              <a:rPr kumimoji="1" lang="ja-JP" altLang="en-US" smtClean="0"/>
              <a:t>2020/11/24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2513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54EF-D7E8-094D-96B2-0A70156A7B86}" type="datetime1">
              <a:rPr kumimoji="1" lang="ja-JP" altLang="en-US" smtClean="0"/>
              <a:t>2020/11/24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4868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CF2C37-F7D5-0E4E-8CF1-580DA0CE5D5C}" type="datetime1">
              <a:rPr kumimoji="1" lang="ja-JP" altLang="en-US" smtClean="0"/>
              <a:t>2020/11/24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8345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kumimoji="1"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1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6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2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8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323851" y="2321156"/>
            <a:ext cx="6911974" cy="1671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latin typeface="MS Mincho" charset="-128"/>
                <a:ea typeface="MS Mincho" charset="-128"/>
                <a:cs typeface="MS Mincho" charset="-128"/>
              </a:rPr>
              <a:t>株式会社芸文社</a:t>
            </a:r>
            <a:endParaRPr lang="en-US" altLang="ja-JP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endParaRPr lang="ja-JP" altLang="en-US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r>
              <a:rPr lang="ja-JP" altLang="en-US">
                <a:latin typeface="MS Mincho" charset="-128"/>
                <a:ea typeface="MS Mincho" charset="-128"/>
                <a:cs typeface="MS Mincho" charset="-128"/>
              </a:rPr>
              <a:t>ノスタルジックスピード </a:t>
            </a:r>
            <a:r>
              <a:rPr lang="en-US" altLang="ja-JP" dirty="0">
                <a:latin typeface="MS Mincho" charset="-128"/>
                <a:ea typeface="MS Mincho" charset="-128"/>
                <a:cs typeface="MS Mincho" charset="-128"/>
              </a:rPr>
              <a:t>Vol.026</a:t>
            </a:r>
          </a:p>
          <a:p>
            <a:pPr algn="ctr"/>
            <a:r>
              <a:rPr lang="ja-JP" altLang="en-US">
                <a:latin typeface="MS Mincho" charset="-128"/>
                <a:ea typeface="MS Mincho" charset="-128"/>
                <a:cs typeface="MS Mincho" charset="-128"/>
              </a:rPr>
              <a:t>読者プレゼントアンケート</a:t>
            </a:r>
            <a:endParaRPr lang="en-US" altLang="ja-JP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r>
              <a:rPr lang="ja-JP" altLang="en-US" dirty="0">
                <a:latin typeface="MS Mincho" charset="-128"/>
                <a:ea typeface="MS Mincho" charset="-128"/>
                <a:cs typeface="MS Mincho" charset="-128"/>
              </a:rPr>
              <a:t>調査報告書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223925" y="7585381"/>
            <a:ext cx="51118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調査方法		アンケートサイト集計</a:t>
            </a:r>
          </a:p>
          <a:p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調査期間　	</a:t>
            </a:r>
            <a:r>
              <a:rPr lang="ja-JP" altLang="en-US" sz="1400">
                <a:latin typeface="MS Mincho" charset="-128"/>
                <a:ea typeface="MS Mincho" charset="-128"/>
                <a:cs typeface="MS Mincho" charset="-128"/>
              </a:rPr>
              <a:t>	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2020</a:t>
            </a:r>
            <a:r>
              <a:rPr lang="ja-JP" altLang="en-US" sz="1400">
                <a:latin typeface="MS Mincho" charset="-128"/>
                <a:ea typeface="MS Mincho" charset="-128"/>
                <a:cs typeface="MS Mincho" charset="-128"/>
              </a:rPr>
              <a:t>年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9</a:t>
            </a:r>
            <a:r>
              <a:rPr lang="ja-JP" altLang="en-US" sz="1400">
                <a:latin typeface="MS Mincho" charset="-128"/>
                <a:ea typeface="MS Mincho" charset="-128"/>
                <a:cs typeface="MS Mincho" charset="-128"/>
              </a:rPr>
              <a:t>月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16</a:t>
            </a:r>
            <a:r>
              <a:rPr lang="ja-JP" altLang="en-US" sz="1400">
                <a:latin typeface="MS Mincho" charset="-128"/>
                <a:ea typeface="MS Mincho" charset="-128"/>
                <a:cs typeface="MS Mincho" charset="-128"/>
              </a:rPr>
              <a:t>日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〜 11</a:t>
            </a:r>
            <a:r>
              <a:rPr lang="ja-JP" altLang="en-US" sz="1400">
                <a:latin typeface="MS Mincho" charset="-128"/>
                <a:ea typeface="MS Mincho" charset="-128"/>
                <a:cs typeface="MS Mincho" charset="-128"/>
              </a:rPr>
              <a:t>月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21</a:t>
            </a:r>
            <a:r>
              <a:rPr lang="ja-JP" altLang="en-US" sz="1400">
                <a:latin typeface="MS Mincho" charset="-128"/>
                <a:ea typeface="MS Mincho" charset="-128"/>
                <a:cs typeface="MS Mincho" charset="-128"/>
              </a:rPr>
              <a:t>日</a:t>
            </a:r>
            <a:endParaRPr lang="en-US" altLang="ja-JP" sz="1400" dirty="0">
              <a:latin typeface="MS Mincho" charset="-128"/>
              <a:ea typeface="MS Mincho" charset="-128"/>
              <a:cs typeface="MS Mincho" charset="-128"/>
            </a:endParaRPr>
          </a:p>
          <a:p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回答数	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	32</a:t>
            </a:r>
            <a:r>
              <a:rPr lang="ja-JP" altLang="en-US" sz="1400">
                <a:latin typeface="MS Mincho" charset="-128"/>
                <a:ea typeface="MS Mincho" charset="-128"/>
                <a:cs typeface="MS Mincho" charset="-128"/>
              </a:rPr>
              <a:t>件</a:t>
            </a:r>
            <a:endParaRPr lang="ja-JP" altLang="en-US" sz="1400" dirty="0">
              <a:latin typeface="MS Mincho" charset="-128"/>
              <a:ea typeface="MS Mincho" charset="-128"/>
              <a:cs typeface="MS Mincho" charset="-128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CA10310-8BF3-4815-BAB5-360580376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8633542"/>
            <a:ext cx="7077075" cy="67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03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EB7043B5-3DF6-40E0-B8F6-E3DE9CD08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2A5F7FD-69F7-4143-8163-5C5E5B198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2</a:t>
            </a:fld>
            <a:endParaRPr kumimoji="1" lang="ja-JP" altLang="en-US"/>
          </a:p>
        </p:txBody>
      </p:sp>
      <p:pic>
        <p:nvPicPr>
          <p:cNvPr id="6" name="図 5" descr="グラフ, 折れ線グラフ&#10;&#10;自動的に生成された説明">
            <a:extLst>
              <a:ext uri="{FF2B5EF4-FFF2-40B4-BE49-F238E27FC236}">
                <a16:creationId xmlns:a16="http://schemas.microsoft.com/office/drawing/2014/main" id="{3711C2E7-1897-40A7-9EA1-72628D467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66" y="559504"/>
            <a:ext cx="6474542" cy="4271340"/>
          </a:xfrm>
          <a:prstGeom prst="rect">
            <a:avLst/>
          </a:prstGeom>
        </p:spPr>
      </p:pic>
      <p:pic>
        <p:nvPicPr>
          <p:cNvPr id="8" name="図 7" descr="グラフ&#10;&#10;自動的に生成された説明">
            <a:extLst>
              <a:ext uri="{FF2B5EF4-FFF2-40B4-BE49-F238E27FC236}">
                <a16:creationId xmlns:a16="http://schemas.microsoft.com/office/drawing/2014/main" id="{5E64B90C-7F2C-43D8-AFA3-6457965A4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717" y="4934407"/>
            <a:ext cx="3866240" cy="497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725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4728CB35-8EFC-4845-9961-BE199F539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E6EE12-E6AB-42DE-B628-2CEF34954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3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3B131D7-C2A9-4D1F-9C42-90F34386E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397520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94DA6EB-A68E-4FAC-A4BA-A8DA7F2B9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99" y="4924791"/>
            <a:ext cx="7077075" cy="84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836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20125121-E338-4366-9483-FC31A08BF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D22AC82-87A9-4FB2-88AD-022062E74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4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A77BF01-C45F-4E08-B576-C89F677B3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632538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8FBF914E-749F-4C67-B46D-0D63BBBCA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99" y="7271308"/>
            <a:ext cx="7077075" cy="247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81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2AF93AF2-5C99-4118-9634-7F8639506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491B53F-7041-463D-8C65-74432976D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5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05B426F-4DEA-4C65-9C31-01082AEC4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821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267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9D9FB7F8-7D00-4DEC-8CBF-E08EACCA2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1DC64D3-E134-4295-B7BD-BCBE4E05B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6</a:t>
            </a:fld>
            <a:endParaRPr kumimoji="1" lang="ja-JP" altLang="en-US"/>
          </a:p>
        </p:txBody>
      </p:sp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4CC67012-3DCC-4A41-9E82-D659C6D907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774461"/>
              </p:ext>
            </p:extLst>
          </p:nvPr>
        </p:nvGraphicFramePr>
        <p:xfrm>
          <a:off x="552757" y="820183"/>
          <a:ext cx="6454159" cy="9051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Worksheet" r:id="rId3" imgW="4657562" imgH="6529607" progId="Excel.Sheet.12">
                  <p:embed/>
                </p:oleObj>
              </mc:Choice>
              <mc:Fallback>
                <p:oleObj name="Worksheet" r:id="rId3" imgW="4657562" imgH="652960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2757" y="820183"/>
                        <a:ext cx="6454159" cy="9051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774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A8F7D17E-B683-4986-8A59-188FCCDF7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5125221-AF65-43AB-9D69-E4050D47F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7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EE0C61A-D231-463F-AB48-2AA692A44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397520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33CB692C-8EF0-4353-A2DC-8B3D528DA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4931696"/>
            <a:ext cx="7077075" cy="149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899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9DDBD8D0-8D9C-46E0-A36B-7D4B93F03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682E97F-5A37-45DB-8B96-3C5C61C0A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D313D7E-C79D-474C-AFE7-81D7D19D8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328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052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8DFAAC2A-EE76-4544-8AB7-4CD7788A2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0BA2473-15BD-453C-9A45-87B081168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9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6233E2D-D219-47FC-935E-7BD350590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353541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50045C3-EC36-458C-8DED-E866E7379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4474497"/>
            <a:ext cx="7077075" cy="133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344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FEFB3DB3-F5BF-48B2-B471-AA42FEFEF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C1F78E8-60E9-4267-BF4D-9CE38368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10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790D029-AECE-49FA-AD82-C19F1942F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821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57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1C206F2F-E213-480E-8810-E78DF6184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C70C6A4-285D-476E-AB58-77ED54B47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11</a:t>
            </a:fld>
            <a:endParaRPr kumimoji="1" lang="ja-JP" altLang="en-US"/>
          </a:p>
        </p:txBody>
      </p:sp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79079136-AE93-461E-A427-96054A50FB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60710"/>
              </p:ext>
            </p:extLst>
          </p:nvPr>
        </p:nvGraphicFramePr>
        <p:xfrm>
          <a:off x="474585" y="640605"/>
          <a:ext cx="6610503" cy="9410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" name="Worksheet" r:id="rId3" imgW="4586369" imgH="6529607" progId="Excel.Sheet.12">
                  <p:embed/>
                </p:oleObj>
              </mc:Choice>
              <mc:Fallback>
                <p:oleObj name="Worksheet" r:id="rId3" imgW="4586369" imgH="652960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4585" y="640605"/>
                        <a:ext cx="6610503" cy="94106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536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F49CFEEA-B652-4DF3-BAAE-DE38FE064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B85EF53-E06F-43FA-8C4C-DFFD11A2A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12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ED5FE0E-DE7C-45DA-8D24-2AA627866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804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852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924EF919-A4C9-43BE-B9E2-69699AE95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1862C57-F5D9-44C2-9330-6A1F02D12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13</a:t>
            </a:fld>
            <a:endParaRPr kumimoji="1" lang="ja-JP" altLang="en-US"/>
          </a:p>
        </p:txBody>
      </p:sp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D897E965-A3A9-4E95-A35F-1F8C08FAD7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228033"/>
              </p:ext>
            </p:extLst>
          </p:nvPr>
        </p:nvGraphicFramePr>
        <p:xfrm>
          <a:off x="488949" y="667287"/>
          <a:ext cx="6565009" cy="93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" name="Worksheet" r:id="rId3" imgW="4581797" imgH="6529607" progId="Excel.Sheet.12">
                  <p:embed/>
                </p:oleObj>
              </mc:Choice>
              <mc:Fallback>
                <p:oleObj name="Worksheet" r:id="rId3" imgW="4581797" imgH="652960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8949" y="667287"/>
                        <a:ext cx="6565009" cy="9357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7292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DE9373A9-BADF-456C-AC86-156F2873D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2A9A59A-6B77-4473-882E-8D56B0008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14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AE6A987-763E-4DB3-A536-85342CD1D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649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84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CDFB909D-945A-419F-9C92-CF2178B7D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949EE21-09B3-4ACC-AB2E-A942ECF62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15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DF7657D-4153-443B-95C8-4769D4273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649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998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1F368F7D-B9E1-4148-879F-CD6ADFCDA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D9973EE-9C21-4686-B738-60D42885E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16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9FF6E8F-3BB1-4D93-853D-5DF3BD816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397676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DC650B7F-3EED-48B1-B35C-26971B8B3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99" y="4924791"/>
            <a:ext cx="7077075" cy="84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312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9E0F33F4-343D-4D0D-9E38-0869217D0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AA653DF-CCCC-48C8-98B3-123048828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17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71E121E-BBA4-479D-8057-E4DCBE633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353385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BC22A81D-10C4-41B4-9581-40D2F7425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99" y="4489245"/>
            <a:ext cx="7077075" cy="149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058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F52EECE8-7379-4684-934D-E46404DED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C7C14FA-FEE9-42E9-9483-3755D9EAF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18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9E76F49-910C-46F1-B96A-B3CDD6747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397520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32FABAA-ACAE-46F3-B4E2-768E68259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4931697"/>
            <a:ext cx="7077075" cy="1661066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C3494995-1027-8C47-852A-7FB01E03E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" y="6761859"/>
            <a:ext cx="7077075" cy="58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285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31A9C897-F6D6-4268-8218-5DC7A1D32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5688B1A-1B54-4C4E-94B3-78FF3BFBC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19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8AF1F74-623F-4E1B-BFC0-F1505A5AF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397676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D1178C5-5E1E-487C-8964-8F274A138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4916948"/>
            <a:ext cx="7077075" cy="166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65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4B870B45-5B08-4CB3-A25A-C47000F0F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C7E0CE3-FD0E-409B-A2F5-26097CB75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20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C4E3F4A-60D1-478D-958B-74702966A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860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520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DCD3C2D3-B826-40C2-B2F1-7A9A90335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CD90119-9017-4497-804B-5F31849F5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21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6653C63-3B29-41D6-A66F-52729F99E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441654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A721513-9CDF-4373-BA0B-5AB9BC6DB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99" y="5345906"/>
            <a:ext cx="7077075" cy="182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532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C05B6EF8-3D2E-4A31-B422-3746BA922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ノスタルジックスピード </a:t>
            </a:r>
            <a:r>
              <a:rPr kumimoji="1" lang="en-US" altLang="ja-JP"/>
              <a:t>vol.026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D3069C1-8FF9-452D-88EB-42524542B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22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025ADF3-F210-469D-80B7-6842C9081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235954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ECFB36AA-1449-4737-B20C-E01F9B0EC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3279878"/>
            <a:ext cx="7077075" cy="116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421465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11921</TotalTime>
  <Words>159</Words>
  <Application>Microsoft Macintosh PowerPoint</Application>
  <PresentationFormat>ユーザー設定</PresentationFormat>
  <Paragraphs>54</Paragraphs>
  <Slides>22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9" baseType="lpstr">
      <vt:lpstr>MS Mincho</vt:lpstr>
      <vt:lpstr>Yu Gothic</vt:lpstr>
      <vt:lpstr>Arial</vt:lpstr>
      <vt:lpstr>Calibri</vt:lpstr>
      <vt:lpstr>Calibri Light</vt:lpstr>
      <vt:lpstr>ホワイト</vt:lpstr>
      <vt:lpstr>Worksheet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住岡 秀宣</dc:creator>
  <cp:lastModifiedBy>佐々木　剛志</cp:lastModifiedBy>
  <cp:revision>97</cp:revision>
  <cp:lastPrinted>2015-12-08T07:36:09Z</cp:lastPrinted>
  <dcterms:created xsi:type="dcterms:W3CDTF">2015-10-23T07:42:10Z</dcterms:created>
  <dcterms:modified xsi:type="dcterms:W3CDTF">2020-11-24T01:24:56Z</dcterms:modified>
</cp:coreProperties>
</file>